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4" r:id="rId2"/>
    <p:sldId id="410" r:id="rId3"/>
    <p:sldId id="409" r:id="rId4"/>
    <p:sldId id="412" r:id="rId5"/>
    <p:sldId id="413" r:id="rId6"/>
    <p:sldId id="411" r:id="rId7"/>
    <p:sldId id="414" r:id="rId8"/>
    <p:sldId id="27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1D89068-D9AA-4235-A84B-116430B9676C}">
          <p14:sldIdLst>
            <p14:sldId id="264"/>
            <p14:sldId id="410"/>
            <p14:sldId id="409"/>
            <p14:sldId id="412"/>
            <p14:sldId id="413"/>
            <p14:sldId id="411"/>
            <p14:sldId id="414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Xinyan" initials="authorId_256441336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CFDA"/>
    <a:srgbClr val="F495BF"/>
    <a:srgbClr val="25797C"/>
    <a:srgbClr val="397A7C"/>
    <a:srgbClr val="DCECEB"/>
    <a:srgbClr val="FFFFFF"/>
    <a:srgbClr val="D9D9D9"/>
    <a:srgbClr val="F2F2F1"/>
    <a:srgbClr val="F1F5F7"/>
    <a:srgbClr val="C9E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8" autoAdjust="0"/>
    <p:restoredTop sz="72339" autoAdjust="0"/>
  </p:normalViewPr>
  <p:slideViewPr>
    <p:cSldViewPr snapToGrid="0">
      <p:cViewPr varScale="1">
        <p:scale>
          <a:sx n="89" d="100"/>
          <a:sy n="89" d="100"/>
        </p:scale>
        <p:origin x="1690" y="8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913BE-DF7E-49C3-B207-6412D8317308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9CCB2-AB0F-4267-8C23-514AB25384B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FA8D2-EC2D-B300-10CB-DCADC7A1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A72CEA-D17F-C954-F265-FC8D3A5D1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83B6F6-DAEA-2D6F-9402-0301E18A9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79FFF-8594-1EB4-E8D4-208639DED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574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43E21-E19B-40BD-750D-57C73C1B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059BF6-005E-DAB2-F707-7A0A2EF1E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0A543D-21CF-BE02-189C-BF597F492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9FD62D-6AFD-EB83-309A-1381844EB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671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833FE-CB05-6B3A-C976-662C5071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CFE338-E682-4068-20B5-7A701E4E6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63E8F7-B9D9-6A35-6B13-4BF8DA911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BB79A-5A70-E3BE-BF29-3B7C579FF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79964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3D60B-14E0-5A5B-1CD5-3F7F7705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D5B556-5313-D513-A295-89CEEFE04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D6BE10-706C-2251-9292-957C24C33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A4EAD2-E70C-820B-F107-C02691B83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076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1B21-E2A4-C50E-2C64-03131B475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FD3C17-1DDD-F63F-B8F0-0022671AA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4738E4-EB04-2ACA-EB89-18774001C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259041-F4ED-3424-C7AB-6BF46A15C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18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9739-613B-DD24-D11A-B0ACB2911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920DD4-33B8-FB1F-7AE2-CA3A81D21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5E7B700-7EA8-462B-44C5-96903EC01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26AB12-ABDF-68FD-77C5-06D1C7F4C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58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</a:t>
            </a:r>
            <a:r>
              <a:rPr lang="en-US" altLang="zh-CN" dirty="0"/>
              <a:t> </a:t>
            </a:r>
            <a:r>
              <a:rPr lang="zh-CN" altLang="en-US" dirty="0"/>
              <a:t>落脚点</a:t>
            </a:r>
            <a:br>
              <a:rPr lang="zh-CN" altLang="en-US" dirty="0"/>
            </a:br>
            <a:r>
              <a:rPr lang="zh-CN" altLang="en-US" dirty="0"/>
              <a:t>化学品对基因表达的预测：</a:t>
            </a:r>
            <a:br>
              <a:rPr lang="zh-CN" altLang="en-US" dirty="0"/>
            </a:br>
            <a:r>
              <a:rPr lang="en-US" altLang="zh-CN" dirty="0"/>
              <a:t>1 </a:t>
            </a:r>
            <a:r>
              <a:rPr lang="zh-CN" altLang="en-US" dirty="0"/>
              <a:t>药物设计对疾病靶点的预测（能引起共鸣。但做的人太多）</a:t>
            </a:r>
            <a:br>
              <a:rPr lang="en-US" altLang="zh-CN" dirty="0"/>
            </a:br>
            <a:r>
              <a:rPr lang="en-US" altLang="zh-CN" dirty="0"/>
              <a:t>2 </a:t>
            </a:r>
            <a:r>
              <a:rPr lang="zh-CN" altLang="en-US" dirty="0"/>
              <a:t>环境化学品的健康风险评价</a:t>
            </a:r>
            <a:r>
              <a:rPr lang="en-US" altLang="zh-CN" dirty="0"/>
              <a:t> </a:t>
            </a:r>
            <a:r>
              <a:rPr lang="zh-CN" altLang="en-US" dirty="0"/>
              <a:t>（选一类疾病，从环境管理环境健康的角度）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二</a:t>
            </a:r>
            <a:r>
              <a:rPr lang="en-US" altLang="zh-CN" dirty="0"/>
              <a:t> </a:t>
            </a:r>
            <a:r>
              <a:rPr lang="zh-CN" altLang="en-US" dirty="0"/>
              <a:t>数据要怎么使用</a:t>
            </a:r>
            <a:br>
              <a:rPr lang="zh-CN" altLang="en-US" dirty="0"/>
            </a:br>
            <a:r>
              <a:rPr lang="en-US" altLang="zh-CN" dirty="0"/>
              <a:t>L1000</a:t>
            </a:r>
            <a:r>
              <a:rPr lang="zh-CN" altLang="en-US" dirty="0"/>
              <a:t>里面有几十种细胞的结果，但差异挺大（有些细胞数据多，有些少）；是要全部分析，还是挑跟选中的疾病有关的细胞</a:t>
            </a:r>
            <a:br>
              <a:rPr lang="zh-CN" altLang="en-US" dirty="0"/>
            </a:br>
            <a:r>
              <a:rPr lang="zh-CN" altLang="en-US" dirty="0"/>
              <a:t>如果全部分析，意义又在哪里</a:t>
            </a:r>
            <a:br>
              <a:rPr lang="zh-CN" altLang="en-US" dirty="0"/>
            </a:br>
            <a:r>
              <a:rPr lang="zh-CN" altLang="en-US" dirty="0"/>
              <a:t>预训练结果发现，不同细胞对于同一种化学品的基因表达异质性较高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5251126" y="1034822"/>
            <a:ext cx="1689749" cy="150918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概述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6" y="337014"/>
            <a:ext cx="7523843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17" name="benzene_268754"/>
          <p:cNvSpPr/>
          <p:nvPr userDrawn="1"/>
        </p:nvSpPr>
        <p:spPr>
          <a:xfrm>
            <a:off x="571520" y="373482"/>
            <a:ext cx="533359" cy="609685"/>
          </a:xfrm>
          <a:custGeom>
            <a:avLst/>
            <a:gdLst>
              <a:gd name="T0" fmla="*/ 5851 w 5983"/>
              <a:gd name="T1" fmla="*/ 1623 h 6850"/>
              <a:gd name="T2" fmla="*/ 3123 w 5983"/>
              <a:gd name="T3" fmla="*/ 47 h 6850"/>
              <a:gd name="T4" fmla="*/ 2860 w 5983"/>
              <a:gd name="T5" fmla="*/ 47 h 6850"/>
              <a:gd name="T6" fmla="*/ 131 w 5983"/>
              <a:gd name="T7" fmla="*/ 1623 h 6850"/>
              <a:gd name="T8" fmla="*/ 0 w 5983"/>
              <a:gd name="T9" fmla="*/ 1850 h 6850"/>
              <a:gd name="T10" fmla="*/ 0 w 5983"/>
              <a:gd name="T11" fmla="*/ 5001 h 6850"/>
              <a:gd name="T12" fmla="*/ 131 w 5983"/>
              <a:gd name="T13" fmla="*/ 5228 h 6850"/>
              <a:gd name="T14" fmla="*/ 2860 w 5983"/>
              <a:gd name="T15" fmla="*/ 6804 h 6850"/>
              <a:gd name="T16" fmla="*/ 3123 w 5983"/>
              <a:gd name="T17" fmla="*/ 6804 h 6850"/>
              <a:gd name="T18" fmla="*/ 5851 w 5983"/>
              <a:gd name="T19" fmla="*/ 5228 h 6850"/>
              <a:gd name="T20" fmla="*/ 5983 w 5983"/>
              <a:gd name="T21" fmla="*/ 5001 h 6850"/>
              <a:gd name="T22" fmla="*/ 5983 w 5983"/>
              <a:gd name="T23" fmla="*/ 1850 h 6850"/>
              <a:gd name="T24" fmla="*/ 5851 w 5983"/>
              <a:gd name="T25" fmla="*/ 1623 h 6850"/>
              <a:gd name="T26" fmla="*/ 1357 w 5983"/>
              <a:gd name="T27" fmla="*/ 4495 h 6850"/>
              <a:gd name="T28" fmla="*/ 1138 w 5983"/>
              <a:gd name="T29" fmla="*/ 4714 h 6850"/>
              <a:gd name="T30" fmla="*/ 919 w 5983"/>
              <a:gd name="T31" fmla="*/ 4495 h 6850"/>
              <a:gd name="T32" fmla="*/ 919 w 5983"/>
              <a:gd name="T33" fmla="*/ 2355 h 6850"/>
              <a:gd name="T34" fmla="*/ 1138 w 5983"/>
              <a:gd name="T35" fmla="*/ 2136 h 6850"/>
              <a:gd name="T36" fmla="*/ 1357 w 5983"/>
              <a:gd name="T37" fmla="*/ 2355 h 6850"/>
              <a:gd name="T38" fmla="*/ 1357 w 5983"/>
              <a:gd name="T39" fmla="*/ 4495 h 6850"/>
              <a:gd name="T40" fmla="*/ 4954 w 5983"/>
              <a:gd name="T41" fmla="*/ 4685 h 6850"/>
              <a:gd name="T42" fmla="*/ 3101 w 5983"/>
              <a:gd name="T43" fmla="*/ 5755 h 6850"/>
              <a:gd name="T44" fmla="*/ 2802 w 5983"/>
              <a:gd name="T45" fmla="*/ 5675 h 6850"/>
              <a:gd name="T46" fmla="*/ 2882 w 5983"/>
              <a:gd name="T47" fmla="*/ 5376 h 6850"/>
              <a:gd name="T48" fmla="*/ 4735 w 5983"/>
              <a:gd name="T49" fmla="*/ 4306 h 6850"/>
              <a:gd name="T50" fmla="*/ 5034 w 5983"/>
              <a:gd name="T51" fmla="*/ 4386 h 6850"/>
              <a:gd name="T52" fmla="*/ 4954 w 5983"/>
              <a:gd name="T53" fmla="*/ 4685 h 6850"/>
              <a:gd name="T54" fmla="*/ 5034 w 5983"/>
              <a:gd name="T55" fmla="*/ 2465 h 6850"/>
              <a:gd name="T56" fmla="*/ 4735 w 5983"/>
              <a:gd name="T57" fmla="*/ 2545 h 6850"/>
              <a:gd name="T58" fmla="*/ 2882 w 5983"/>
              <a:gd name="T59" fmla="*/ 1475 h 6850"/>
              <a:gd name="T60" fmla="*/ 2802 w 5983"/>
              <a:gd name="T61" fmla="*/ 1176 h 6850"/>
              <a:gd name="T62" fmla="*/ 3101 w 5983"/>
              <a:gd name="T63" fmla="*/ 1096 h 6850"/>
              <a:gd name="T64" fmla="*/ 4954 w 5983"/>
              <a:gd name="T65" fmla="*/ 2166 h 6850"/>
              <a:gd name="T66" fmla="*/ 5034 w 5983"/>
              <a:gd name="T67" fmla="*/ 2465 h 6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983" h="6850">
                <a:moveTo>
                  <a:pt x="5851" y="1623"/>
                </a:moveTo>
                <a:lnTo>
                  <a:pt x="3123" y="47"/>
                </a:lnTo>
                <a:cubicBezTo>
                  <a:pt x="3041" y="0"/>
                  <a:pt x="2941" y="0"/>
                  <a:pt x="2860" y="47"/>
                </a:cubicBezTo>
                <a:lnTo>
                  <a:pt x="131" y="1623"/>
                </a:lnTo>
                <a:cubicBezTo>
                  <a:pt x="50" y="1669"/>
                  <a:pt x="0" y="1756"/>
                  <a:pt x="0" y="1850"/>
                </a:cubicBezTo>
                <a:lnTo>
                  <a:pt x="0" y="5001"/>
                </a:lnTo>
                <a:cubicBezTo>
                  <a:pt x="0" y="5095"/>
                  <a:pt x="50" y="5181"/>
                  <a:pt x="131" y="5228"/>
                </a:cubicBezTo>
                <a:lnTo>
                  <a:pt x="2860" y="6804"/>
                </a:lnTo>
                <a:cubicBezTo>
                  <a:pt x="2941" y="6850"/>
                  <a:pt x="3041" y="6850"/>
                  <a:pt x="3123" y="6804"/>
                </a:cubicBezTo>
                <a:lnTo>
                  <a:pt x="5851" y="5228"/>
                </a:lnTo>
                <a:cubicBezTo>
                  <a:pt x="5933" y="5181"/>
                  <a:pt x="5983" y="5095"/>
                  <a:pt x="5983" y="5001"/>
                </a:cubicBezTo>
                <a:lnTo>
                  <a:pt x="5983" y="1850"/>
                </a:lnTo>
                <a:cubicBezTo>
                  <a:pt x="5983" y="1756"/>
                  <a:pt x="5933" y="1669"/>
                  <a:pt x="5851" y="1623"/>
                </a:cubicBezTo>
                <a:close/>
                <a:moveTo>
                  <a:pt x="1357" y="4495"/>
                </a:moveTo>
                <a:cubicBezTo>
                  <a:pt x="1357" y="4616"/>
                  <a:pt x="1259" y="4714"/>
                  <a:pt x="1138" y="4714"/>
                </a:cubicBezTo>
                <a:cubicBezTo>
                  <a:pt x="1017" y="4714"/>
                  <a:pt x="919" y="4616"/>
                  <a:pt x="919" y="4495"/>
                </a:cubicBezTo>
                <a:lnTo>
                  <a:pt x="919" y="2355"/>
                </a:lnTo>
                <a:cubicBezTo>
                  <a:pt x="919" y="2234"/>
                  <a:pt x="1017" y="2136"/>
                  <a:pt x="1138" y="2136"/>
                </a:cubicBezTo>
                <a:cubicBezTo>
                  <a:pt x="1259" y="2136"/>
                  <a:pt x="1357" y="2234"/>
                  <a:pt x="1357" y="2355"/>
                </a:cubicBezTo>
                <a:lnTo>
                  <a:pt x="1357" y="4495"/>
                </a:lnTo>
                <a:close/>
                <a:moveTo>
                  <a:pt x="4954" y="4685"/>
                </a:moveTo>
                <a:lnTo>
                  <a:pt x="3101" y="5755"/>
                </a:lnTo>
                <a:cubicBezTo>
                  <a:pt x="2996" y="5815"/>
                  <a:pt x="2862" y="5780"/>
                  <a:pt x="2802" y="5675"/>
                </a:cubicBezTo>
                <a:cubicBezTo>
                  <a:pt x="2741" y="5570"/>
                  <a:pt x="2777" y="5436"/>
                  <a:pt x="2882" y="5376"/>
                </a:cubicBezTo>
                <a:lnTo>
                  <a:pt x="4735" y="4306"/>
                </a:lnTo>
                <a:cubicBezTo>
                  <a:pt x="4840" y="4246"/>
                  <a:pt x="4974" y="4281"/>
                  <a:pt x="5034" y="4386"/>
                </a:cubicBezTo>
                <a:cubicBezTo>
                  <a:pt x="5095" y="4491"/>
                  <a:pt x="5059" y="4624"/>
                  <a:pt x="4954" y="4685"/>
                </a:cubicBezTo>
                <a:close/>
                <a:moveTo>
                  <a:pt x="5034" y="2465"/>
                </a:moveTo>
                <a:cubicBezTo>
                  <a:pt x="4974" y="2569"/>
                  <a:pt x="4840" y="2605"/>
                  <a:pt x="4735" y="2545"/>
                </a:cubicBezTo>
                <a:lnTo>
                  <a:pt x="2882" y="1475"/>
                </a:lnTo>
                <a:cubicBezTo>
                  <a:pt x="2777" y="1414"/>
                  <a:pt x="2741" y="1280"/>
                  <a:pt x="2802" y="1176"/>
                </a:cubicBezTo>
                <a:cubicBezTo>
                  <a:pt x="2862" y="1071"/>
                  <a:pt x="2996" y="1035"/>
                  <a:pt x="3101" y="1096"/>
                </a:cubicBezTo>
                <a:lnTo>
                  <a:pt x="4954" y="2166"/>
                </a:lnTo>
                <a:cubicBezTo>
                  <a:pt x="5059" y="2226"/>
                  <a:pt x="5095" y="2360"/>
                  <a:pt x="5034" y="24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图片 18"/>
          <p:cNvPicPr preferRelativeResize="0"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599" y="329435"/>
            <a:ext cx="2553686" cy="610096"/>
          </a:xfrm>
          <a:prstGeom prst="rect">
            <a:avLst/>
          </a:prstGeom>
          <a:noFill/>
        </p:spPr>
      </p:pic>
      <p:sp>
        <p:nvSpPr>
          <p:cNvPr id="9" name="平行四边形 8"/>
          <p:cNvSpPr/>
          <p:nvPr userDrawn="1"/>
        </p:nvSpPr>
        <p:spPr>
          <a:xfrm>
            <a:off x="1302655" y="1019637"/>
            <a:ext cx="10561629" cy="9832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灯片编号占位符 1"/>
          <p:cNvSpPr txBox="1"/>
          <p:nvPr userDrawn="1"/>
        </p:nvSpPr>
        <p:spPr>
          <a:xfrm>
            <a:off x="11522491" y="6391275"/>
            <a:ext cx="504409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30DD81B-ADF2-4E81-89E9-715225DDC310}" type="slidenum">
              <a:rPr lang="zh-CN" altLang="en-US" sz="2000" smtClean="0">
                <a:cs typeface="+mn-ea"/>
                <a:sym typeface="+mn-lt"/>
              </a:rPr>
              <a:t>‹#›</a:t>
            </a:fld>
            <a:endParaRPr lang="zh-CN" altLang="en-US" sz="2000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方法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198954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过程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2770847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成果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356102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论建议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435367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研究概述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研究成果</a:t>
            </a: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/>
      <p:bldP spid="8" grpId="0" animBg="1"/>
      <p:bldP spid="10" grpId="0" animBg="1"/>
      <p:bldP spid="11" grpId="0"/>
      <p:bldP spid="12" grpId="0"/>
      <p:bldP spid="13" grpId="0"/>
      <p:bldP spid="14" grpId="0"/>
      <p:bldP spid="15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内容版式_右下角通用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使用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  <a:t>‹#›</a:t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41C5-8F5C-4213-BB69-8C2D02590C1C}" type="datetimeFigureOut">
              <a:rPr lang="zh-CN" altLang="en-US" smtClean="0"/>
              <a:t>2026/3/31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3EA9-123D-489F-8313-43A8A4AC4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6256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/>
        </p:nvSpPr>
        <p:spPr>
          <a:xfrm flipV="1">
            <a:off x="8977053" y="482155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benzene_268754"/>
          <p:cNvSpPr/>
          <p:nvPr/>
        </p:nvSpPr>
        <p:spPr>
          <a:xfrm>
            <a:off x="8890020" y="5232400"/>
            <a:ext cx="533359" cy="609685"/>
          </a:xfrm>
          <a:custGeom>
            <a:avLst/>
            <a:gdLst>
              <a:gd name="T0" fmla="*/ 5851 w 5983"/>
              <a:gd name="T1" fmla="*/ 1623 h 6850"/>
              <a:gd name="T2" fmla="*/ 3123 w 5983"/>
              <a:gd name="T3" fmla="*/ 47 h 6850"/>
              <a:gd name="T4" fmla="*/ 2860 w 5983"/>
              <a:gd name="T5" fmla="*/ 47 h 6850"/>
              <a:gd name="T6" fmla="*/ 131 w 5983"/>
              <a:gd name="T7" fmla="*/ 1623 h 6850"/>
              <a:gd name="T8" fmla="*/ 0 w 5983"/>
              <a:gd name="T9" fmla="*/ 1850 h 6850"/>
              <a:gd name="T10" fmla="*/ 0 w 5983"/>
              <a:gd name="T11" fmla="*/ 5001 h 6850"/>
              <a:gd name="T12" fmla="*/ 131 w 5983"/>
              <a:gd name="T13" fmla="*/ 5228 h 6850"/>
              <a:gd name="T14" fmla="*/ 2860 w 5983"/>
              <a:gd name="T15" fmla="*/ 6804 h 6850"/>
              <a:gd name="T16" fmla="*/ 3123 w 5983"/>
              <a:gd name="T17" fmla="*/ 6804 h 6850"/>
              <a:gd name="T18" fmla="*/ 5851 w 5983"/>
              <a:gd name="T19" fmla="*/ 5228 h 6850"/>
              <a:gd name="T20" fmla="*/ 5983 w 5983"/>
              <a:gd name="T21" fmla="*/ 5001 h 6850"/>
              <a:gd name="T22" fmla="*/ 5983 w 5983"/>
              <a:gd name="T23" fmla="*/ 1850 h 6850"/>
              <a:gd name="T24" fmla="*/ 5851 w 5983"/>
              <a:gd name="T25" fmla="*/ 1623 h 6850"/>
              <a:gd name="T26" fmla="*/ 1357 w 5983"/>
              <a:gd name="T27" fmla="*/ 4495 h 6850"/>
              <a:gd name="T28" fmla="*/ 1138 w 5983"/>
              <a:gd name="T29" fmla="*/ 4714 h 6850"/>
              <a:gd name="T30" fmla="*/ 919 w 5983"/>
              <a:gd name="T31" fmla="*/ 4495 h 6850"/>
              <a:gd name="T32" fmla="*/ 919 w 5983"/>
              <a:gd name="T33" fmla="*/ 2355 h 6850"/>
              <a:gd name="T34" fmla="*/ 1138 w 5983"/>
              <a:gd name="T35" fmla="*/ 2136 h 6850"/>
              <a:gd name="T36" fmla="*/ 1357 w 5983"/>
              <a:gd name="T37" fmla="*/ 2355 h 6850"/>
              <a:gd name="T38" fmla="*/ 1357 w 5983"/>
              <a:gd name="T39" fmla="*/ 4495 h 6850"/>
              <a:gd name="T40" fmla="*/ 4954 w 5983"/>
              <a:gd name="T41" fmla="*/ 4685 h 6850"/>
              <a:gd name="T42" fmla="*/ 3101 w 5983"/>
              <a:gd name="T43" fmla="*/ 5755 h 6850"/>
              <a:gd name="T44" fmla="*/ 2802 w 5983"/>
              <a:gd name="T45" fmla="*/ 5675 h 6850"/>
              <a:gd name="T46" fmla="*/ 2882 w 5983"/>
              <a:gd name="T47" fmla="*/ 5376 h 6850"/>
              <a:gd name="T48" fmla="*/ 4735 w 5983"/>
              <a:gd name="T49" fmla="*/ 4306 h 6850"/>
              <a:gd name="T50" fmla="*/ 5034 w 5983"/>
              <a:gd name="T51" fmla="*/ 4386 h 6850"/>
              <a:gd name="T52" fmla="*/ 4954 w 5983"/>
              <a:gd name="T53" fmla="*/ 4685 h 6850"/>
              <a:gd name="T54" fmla="*/ 5034 w 5983"/>
              <a:gd name="T55" fmla="*/ 2465 h 6850"/>
              <a:gd name="T56" fmla="*/ 4735 w 5983"/>
              <a:gd name="T57" fmla="*/ 2545 h 6850"/>
              <a:gd name="T58" fmla="*/ 2882 w 5983"/>
              <a:gd name="T59" fmla="*/ 1475 h 6850"/>
              <a:gd name="T60" fmla="*/ 2802 w 5983"/>
              <a:gd name="T61" fmla="*/ 1176 h 6850"/>
              <a:gd name="T62" fmla="*/ 3101 w 5983"/>
              <a:gd name="T63" fmla="*/ 1096 h 6850"/>
              <a:gd name="T64" fmla="*/ 4954 w 5983"/>
              <a:gd name="T65" fmla="*/ 2166 h 6850"/>
              <a:gd name="T66" fmla="*/ 5034 w 5983"/>
              <a:gd name="T67" fmla="*/ 2465 h 6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983" h="6850">
                <a:moveTo>
                  <a:pt x="5851" y="1623"/>
                </a:moveTo>
                <a:lnTo>
                  <a:pt x="3123" y="47"/>
                </a:lnTo>
                <a:cubicBezTo>
                  <a:pt x="3041" y="0"/>
                  <a:pt x="2941" y="0"/>
                  <a:pt x="2860" y="47"/>
                </a:cubicBezTo>
                <a:lnTo>
                  <a:pt x="131" y="1623"/>
                </a:lnTo>
                <a:cubicBezTo>
                  <a:pt x="50" y="1669"/>
                  <a:pt x="0" y="1756"/>
                  <a:pt x="0" y="1850"/>
                </a:cubicBezTo>
                <a:lnTo>
                  <a:pt x="0" y="5001"/>
                </a:lnTo>
                <a:cubicBezTo>
                  <a:pt x="0" y="5095"/>
                  <a:pt x="50" y="5181"/>
                  <a:pt x="131" y="5228"/>
                </a:cubicBezTo>
                <a:lnTo>
                  <a:pt x="2860" y="6804"/>
                </a:lnTo>
                <a:cubicBezTo>
                  <a:pt x="2941" y="6850"/>
                  <a:pt x="3041" y="6850"/>
                  <a:pt x="3123" y="6804"/>
                </a:cubicBezTo>
                <a:lnTo>
                  <a:pt x="5851" y="5228"/>
                </a:lnTo>
                <a:cubicBezTo>
                  <a:pt x="5933" y="5181"/>
                  <a:pt x="5983" y="5095"/>
                  <a:pt x="5983" y="5001"/>
                </a:cubicBezTo>
                <a:lnTo>
                  <a:pt x="5983" y="1850"/>
                </a:lnTo>
                <a:cubicBezTo>
                  <a:pt x="5983" y="1756"/>
                  <a:pt x="5933" y="1669"/>
                  <a:pt x="5851" y="1623"/>
                </a:cubicBezTo>
                <a:close/>
                <a:moveTo>
                  <a:pt x="1357" y="4495"/>
                </a:moveTo>
                <a:cubicBezTo>
                  <a:pt x="1357" y="4616"/>
                  <a:pt x="1259" y="4714"/>
                  <a:pt x="1138" y="4714"/>
                </a:cubicBezTo>
                <a:cubicBezTo>
                  <a:pt x="1017" y="4714"/>
                  <a:pt x="919" y="4616"/>
                  <a:pt x="919" y="4495"/>
                </a:cubicBezTo>
                <a:lnTo>
                  <a:pt x="919" y="2355"/>
                </a:lnTo>
                <a:cubicBezTo>
                  <a:pt x="919" y="2234"/>
                  <a:pt x="1017" y="2136"/>
                  <a:pt x="1138" y="2136"/>
                </a:cubicBezTo>
                <a:cubicBezTo>
                  <a:pt x="1259" y="2136"/>
                  <a:pt x="1357" y="2234"/>
                  <a:pt x="1357" y="2355"/>
                </a:cubicBezTo>
                <a:lnTo>
                  <a:pt x="1357" y="4495"/>
                </a:lnTo>
                <a:close/>
                <a:moveTo>
                  <a:pt x="4954" y="4685"/>
                </a:moveTo>
                <a:lnTo>
                  <a:pt x="3101" y="5755"/>
                </a:lnTo>
                <a:cubicBezTo>
                  <a:pt x="2996" y="5815"/>
                  <a:pt x="2862" y="5780"/>
                  <a:pt x="2802" y="5675"/>
                </a:cubicBezTo>
                <a:cubicBezTo>
                  <a:pt x="2741" y="5570"/>
                  <a:pt x="2777" y="5436"/>
                  <a:pt x="2882" y="5376"/>
                </a:cubicBezTo>
                <a:lnTo>
                  <a:pt x="4735" y="4306"/>
                </a:lnTo>
                <a:cubicBezTo>
                  <a:pt x="4840" y="4246"/>
                  <a:pt x="4974" y="4281"/>
                  <a:pt x="5034" y="4386"/>
                </a:cubicBezTo>
                <a:cubicBezTo>
                  <a:pt x="5095" y="4491"/>
                  <a:pt x="5059" y="4624"/>
                  <a:pt x="4954" y="4685"/>
                </a:cubicBezTo>
                <a:close/>
                <a:moveTo>
                  <a:pt x="5034" y="2465"/>
                </a:moveTo>
                <a:cubicBezTo>
                  <a:pt x="4974" y="2569"/>
                  <a:pt x="4840" y="2605"/>
                  <a:pt x="4735" y="2545"/>
                </a:cubicBezTo>
                <a:lnTo>
                  <a:pt x="2882" y="1475"/>
                </a:lnTo>
                <a:cubicBezTo>
                  <a:pt x="2777" y="1414"/>
                  <a:pt x="2741" y="1280"/>
                  <a:pt x="2802" y="1176"/>
                </a:cubicBezTo>
                <a:cubicBezTo>
                  <a:pt x="2862" y="1071"/>
                  <a:pt x="2996" y="1035"/>
                  <a:pt x="3101" y="1096"/>
                </a:cubicBezTo>
                <a:lnTo>
                  <a:pt x="4954" y="2166"/>
                </a:lnTo>
                <a:cubicBezTo>
                  <a:pt x="5059" y="2226"/>
                  <a:pt x="5095" y="2360"/>
                  <a:pt x="5034" y="24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0000" y="1440000"/>
            <a:ext cx="115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化学品-基因相互作用预测
DrugOperatorNet: 基于扰动算子的端到端可解释深度学习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0000" y="3960000"/>
            <a:ext cx="93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CDCDC"/>
                </a:solidFill>
              </a:rPr>
              <a:t>汇报人：
日期：2026/04/03</a:t>
            </a:r>
          </a:p>
        </p:txBody>
      </p:sp>
    </p:spTree>
    <p:custDataLst>
      <p:tags r:id="rId1"/>
    </p:custData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332A-0DB7-1833-0422-1EA16AC9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E6D18FCA-E8B1-3E89-B3E6-A65C22386776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A56AD963-4278-37A0-F1D7-C8A0C7E16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464" y="19682"/>
            <a:ext cx="4187628" cy="6858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4EC1EFF-3624-C69C-684A-E76F2D014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78" y="0"/>
            <a:ext cx="5296686" cy="6858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0000" y="108000"/>
            <a:ext cx="72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97D"/>
                </a:solidFill>
              </a:rPr>
              <a:t>研究背景与问题定义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" y="720000"/>
            <a:ext cx="54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97D"/>
                </a:solidFill>
              </a:rPr>
              <a:t>研究问题</a:t>
            </a:r>
          </a:p>
          <a:p>
            <a:r>
              <a:rPr sz="1400" b="0"/>
              <a:t/>
            </a:r>
          </a:p>
          <a:p>
            <a:r>
              <a:rPr sz="1400" b="0"/>
              <a:t>给定化学品 C 和基因 G，预测：</a:t>
            </a:r>
          </a:p>
          <a:p>
            <a:r>
              <a:rPr sz="1400" b="0"/>
              <a:t>C 是否能显著改变细胞系中 G 的表达？</a:t>
            </a:r>
          </a:p>
          <a:p>
            <a:r>
              <a:rPr sz="1400" b="0"/>
              <a:t>（二分类：上调/下调 = 1；无显著变化 = 0）</a:t>
            </a:r>
          </a:p>
          <a:p>
            <a:r>
              <a:rPr sz="1400" b="0"/>
              <a:t/>
            </a:r>
          </a:p>
          <a:p>
            <a:r>
              <a:rPr sz="1400" b="0"/>
              <a:t>数据集：L1000（LINCS）</a:t>
            </a:r>
          </a:p>
          <a:p>
            <a:r>
              <a:rPr sz="1400" b="0"/>
              <a:t>• 4 个细胞系：MCF7 / A375 / A549 / VCAP</a:t>
            </a:r>
          </a:p>
          <a:p>
            <a:r>
              <a:rPr sz="1400" b="0"/>
              <a:t>• 化学冷分割（Chemical Cold Split）：训练/测试无共享化合物</a:t>
            </a:r>
          </a:p>
          <a:p>
            <a:r>
              <a:rPr sz="1400" b="0"/>
              <a:t>• 5-fold Cross Validation</a:t>
            </a:r>
          </a:p>
          <a:p>
            <a:r>
              <a:rPr sz="1400" b="0"/>
              <a:t>• 标注：logFC &gt; 1.5 且 q &lt; 0.05 为正例</a:t>
            </a:r>
          </a:p>
          <a:p>
            <a:r>
              <a:rPr sz="1400" b="0"/>
              <a:t/>
            </a:r>
          </a:p>
          <a:p>
            <a:r>
              <a:rPr sz="1400" b="0"/>
              <a:t>核心挑战</a:t>
            </a:r>
          </a:p>
          <a:p>
            <a:r>
              <a:rPr sz="1400" b="0"/>
              <a:t>• 化学品泛化：固定指纹无法学习结构-活性关系</a:t>
            </a:r>
          </a:p>
          <a:p>
            <a:r>
              <a:rPr sz="1400" b="0"/>
              <a:t>• 机制可解释：预测需落地到具体药效团和调控通路</a:t>
            </a:r>
          </a:p>
          <a:p>
            <a:r>
              <a:rPr sz="1400" b="0"/>
              <a:t>• 类别不平衡：正例约占 15-25%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0000" y="720000"/>
            <a:ext cx="576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97D"/>
                </a:solidFill>
              </a:rPr>
              <a:t>现有方法的局限</a:t>
            </a:r>
          </a:p>
          <a:p>
            <a:r>
              <a:rPr sz="1400" b="0"/>
              <a:t/>
            </a:r>
          </a:p>
          <a:p>
            <a:r>
              <a:rPr sz="1400" b="0"/>
              <a:t>传统ML（Random Forest + Morgan FP）</a:t>
            </a:r>
          </a:p>
          <a:p>
            <a:r>
              <a:rPr sz="1400" b="0"/>
              <a:t>• 固定指纹，无法优化化学表示</a:t>
            </a:r>
          </a:p>
          <a:p>
            <a:r>
              <a:rPr sz="1400" b="0"/>
              <a:t>• 无法建模原子级别的结构-活性关系</a:t>
            </a:r>
          </a:p>
          <a:p>
            <a:r>
              <a:rPr sz="1400" b="0"/>
              <a:t>• 本文基线：AUC 0.789~0.887</a:t>
            </a:r>
          </a:p>
          <a:p>
            <a:r>
              <a:rPr sz="1400" b="0"/>
              <a:t/>
            </a:r>
          </a:p>
          <a:p>
            <a:r>
              <a:rPr sz="1400" b="0"/>
              <a:t>现有深度学习（DeepCE等）</a:t>
            </a:r>
          </a:p>
          <a:p>
            <a:r>
              <a:rPr sz="1400" b="0"/>
              <a:t>• 黑盒：药物嵌入 ⊕ 基因嵌入 → MLP</a:t>
            </a:r>
          </a:p>
          <a:p>
            <a:r>
              <a:rPr sz="1400" b="0"/>
              <a:t>• 无药效团对齐，可解释性差</a:t>
            </a:r>
          </a:p>
          <a:p>
            <a:r>
              <a:rPr sz="1400" b="0"/>
              <a:t>• 多数用预训练模型，非端到端</a:t>
            </a:r>
          </a:p>
          <a:p>
            <a:r>
              <a:rPr sz="1400" b="0"/>
              <a:t/>
            </a:r>
          </a:p>
          <a:p>
            <a:r>
              <a:rPr sz="1400" b="0"/>
              <a:t>本文方案</a:t>
            </a:r>
          </a:p>
          <a:p>
            <a:r>
              <a:rPr sz="1400" b="0"/>
              <a:t>• 算子范式：药物 = 基因空间上的扰动算子</a:t>
            </a:r>
          </a:p>
          <a:p>
            <a:r>
              <a:rPr sz="1400" b="0"/>
              <a:t>• T = I + UΣVᵀ，谱 Σ = 药物-基因耦合强度</a:t>
            </a:r>
          </a:p>
          <a:p>
            <a:r>
              <a:rPr sz="1400" b="0"/>
              <a:t>• GIN 端到端图学习 + 基因 k-mer 序列编码</a:t>
            </a:r>
          </a:p>
          <a:p>
            <a:r>
              <a:rPr sz="1400" b="0"/>
              <a:t>• 正交正则确保每个模式独立可解释</a:t>
            </a:r>
          </a:p>
        </p:txBody>
      </p:sp>
    </p:spTree>
    <p:extLst>
      <p:ext uri="{BB962C8B-B14F-4D97-AF65-F5344CB8AC3E}">
        <p14:creationId xmlns:p14="http://schemas.microsoft.com/office/powerpoint/2010/main" val="402544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5A98-69DA-B925-624A-6032FD55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1D2F06C8-AC92-80D2-DE00-A42442419082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180000" y="108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97D"/>
                </a:solidFill>
              </a:rPr>
              <a:t>DrugOperatorNet 模型架构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" y="648000"/>
            <a:ext cx="1152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497D"/>
                </a:solidFill>
              </a:rPr>
              <a:t>输入层</a:t>
            </a:r>
          </a:p>
          <a:p>
            <a:r>
              <a:rPr sz="1300" b="0"/>
              <a:t>药物分子图 G_mol（原子节点 + 键边）    基因序列 DNA/RNA（k-mer tokenize）</a:t>
            </a:r>
          </a:p>
          <a:p>
            <a:r>
              <a:rPr sz="1300" b="0"/>
              <a:t/>
            </a:r>
          </a:p>
          <a:p>
            <a:r>
              <a:rPr sz="1300" b="0"/>
              <a:t>编码层</a:t>
            </a:r>
          </a:p>
          <a:p>
            <a:r>
              <a:rPr sz="1300" b="0"/>
              <a:t>GIN（3层消息传递）                      CNN-MultiHead（k-mer → 局部模式）</a:t>
            </a:r>
          </a:p>
          <a:p>
            <a:r>
              <a:rPr sz="1300" b="0"/>
              <a:t>└─ 原子嵌入 H_atom [B, N_a, H]         └─ 基因全局表示 V_g [B, H]</a:t>
            </a:r>
          </a:p>
          <a:p>
            <a:r>
              <a:rPr sz="1300" b="0"/>
              <a:t>└─ 药效团提取器（PharmacophoreExtractor）</a:t>
            </a:r>
          </a:p>
          <a:p>
            <a:r>
              <a:rPr sz="1300" b="0"/>
              <a:t>   r 个可学习 query slots × 原子 cross-attention</a:t>
            </a:r>
          </a:p>
          <a:p>
            <a:r>
              <a:rPr sz="1300" b="0"/>
              <a:t>   → 药效团模式 U [B, r, H]（r个独立药效团）</a:t>
            </a:r>
          </a:p>
          <a:p>
            <a:r>
              <a:rPr sz="1300" b="0"/>
              <a:t/>
            </a:r>
          </a:p>
          <a:p>
            <a:r>
              <a:rPr sz="1300" b="0"/>
              <a:t>算子层（PerturbationOperator）</a:t>
            </a:r>
          </a:p>
          <a:p>
            <a:r>
              <a:rPr sz="1300" b="0"/>
              <a:t>• 基因多头读取器：V_g → r 个基因模式 [B, r, H]</a:t>
            </a:r>
          </a:p>
          <a:p>
            <a:r>
              <a:rPr sz="1300" b="0"/>
              <a:t>• 模式对齐耦合：spectrum_k = σ(v_k · h_g_mode_k)  [B, r]</a:t>
            </a:r>
          </a:p>
          <a:p>
            <a:r>
              <a:rPr sz="1300" b="0"/>
              <a:t>• delta_h = Σ_k spectrum_k * u_k  [B, H]</a:t>
            </a:r>
          </a:p>
          <a:p>
            <a:r>
              <a:rPr sz="1300" b="0"/>
              <a:t>  （药物对基因空间的有效扰动）</a:t>
            </a:r>
          </a:p>
          <a:p>
            <a:r>
              <a:rPr sz="1300" b="0"/>
              <a:t/>
            </a:r>
          </a:p>
          <a:p>
            <a:r>
              <a:rPr sz="1300" b="0"/>
              <a:t>分类层</a:t>
            </a:r>
          </a:p>
          <a:p>
            <a:r>
              <a:rPr sz="1300" b="0"/>
              <a:t>• 特征拼接：[V_g_global, delta_h]  [B, 2H]</a:t>
            </a:r>
          </a:p>
          <a:p>
            <a:r>
              <a:rPr sz="1300" b="0"/>
              <a:t>• MLP(2H → H → 1) + Sigmoid</a:t>
            </a:r>
          </a:p>
          <a:p>
            <a:r>
              <a:rPr sz="1300" b="0"/>
              <a:t/>
            </a:r>
          </a:p>
          <a:p>
            <a:r>
              <a:rPr sz="1300" b="0"/>
              <a:t>正则化</a:t>
            </a:r>
          </a:p>
          <a:p>
            <a:r>
              <a:rPr sz="1300" b="0"/>
              <a:t>• 正交正则 L_ortho：Gram(U) ≈ I，确保药效团模式独立</a:t>
            </a:r>
          </a:p>
          <a:p>
            <a:r>
              <a:rPr sz="1300" b="0"/>
              <a:t>• lam_ortho = 0.1（消融验证有效）</a:t>
            </a:r>
          </a:p>
        </p:txBody>
      </p:sp>
    </p:spTree>
    <p:extLst>
      <p:ext uri="{BB962C8B-B14F-4D97-AF65-F5344CB8AC3E}">
        <p14:creationId xmlns:p14="http://schemas.microsoft.com/office/powerpoint/2010/main" val="266419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51D66-31C7-0D74-B2AE-4E3D618C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38D1A4F1-0E99-7A81-BDAC-016DF8BB7508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6F8AA5FB-7446-1D17-5420-ED85E1425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800" y="1990814"/>
            <a:ext cx="7085714" cy="369523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0000" y="108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97D"/>
                </a:solidFill>
              </a:rPr>
              <a:t>实验结果：4细胞系性能对比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" y="648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97D"/>
                </a:solidFill>
              </a:rPr>
              <a:t>| 细胞系     | Morgan FP | MoE      | MoE+Target | DrugOperatorNet | GIN净增益 |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0000" y="900000"/>
            <a:ext cx="115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|------------|-----------|----------|------------|-----------------|-----------|</a:t>
            </a:r>
          </a:p>
          <a:p>
            <a:r>
              <a:rPr sz="1300" b="0"/>
              <a:t>| MCF7       | 0.8710    | 0.8935   | 0.8943     | 0.8923          | +0.0233   |</a:t>
            </a:r>
          </a:p>
          <a:p>
            <a:r>
              <a:rPr sz="1300" b="0"/>
              <a:t>| A375       | 0.8870    | 0.9035   | 0.9040     | (运行中)        | +0.0170   |</a:t>
            </a:r>
          </a:p>
          <a:p>
            <a:r>
              <a:rPr sz="1300" b="0"/>
              <a:t>| A549       | 0.8432    | 0.8703   | 0.8718     | (运行中)        | +0.0286   |</a:t>
            </a:r>
          </a:p>
          <a:p>
            <a:r>
              <a:rPr sz="1300" b="0"/>
              <a:t>| VCAP       | 0.7894    | 0.8132   | 0.8135     | (运行中)        | +0.0241   |</a:t>
            </a:r>
          </a:p>
          <a:p>
            <a:r>
              <a:rPr sz="1300" b="0"/>
              <a:t/>
            </a:r>
          </a:p>
          <a:p>
            <a:r>
              <a:rPr sz="1300" b="0"/>
              <a:t>关键结论：</a:t>
            </a:r>
          </a:p>
          <a:p>
            <a:r>
              <a:rPr sz="1300" b="0"/>
              <a:t>1. GIN端到端图学习 在4/4细胞系上一致优于固定Morgan指纹，净增益 +0.017~+0.029</a:t>
            </a:r>
          </a:p>
          <a:p>
            <a:r>
              <a:rPr sz="1300" b="0"/>
              <a:t>2. DrugOperatorNet（0.8923）≈ MoE（0.8935），用更少参数（918K vs 1.06M）达到相同效果</a:t>
            </a:r>
          </a:p>
          <a:p>
            <a:r>
              <a:rPr sz="1300" b="0"/>
              <a:t>3. 化学冷分割场景下GIN的结构归纳偏置优势更明显（固定指纹对未见化合物泛化弱）</a:t>
            </a:r>
          </a:p>
          <a:p>
            <a:r>
              <a:rPr sz="1300" b="0"/>
              <a:t/>
            </a:r>
          </a:p>
          <a:p>
            <a:r>
              <a:rPr sz="1300" b="0"/>
              <a:t>正在运行：A375/A549/VCAP 的 DrugOperatorNet（cuda:0/2/3）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0000" y="4680000"/>
            <a:ext cx="115200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97D"/>
                </a:solidFill>
              </a:rPr>
              <a:t>MCF7 消融实验（验证各组件贡献）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000" y="5040000"/>
            <a:ext cx="1152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| 变体            | AUC    | 说明                          |</a:t>
            </a:r>
          </a:p>
          <a:p>
            <a:r>
              <a:rPr sz="1300" b="0"/>
              <a:t>|-----------------|--------|-------------------------------|</a:t>
            </a:r>
          </a:p>
          <a:p>
            <a:r>
              <a:rPr sz="1300" b="0"/>
              <a:t>| full（谱路由）  | 0.8868 | 最差：MoE路由冲突             |</a:t>
            </a:r>
          </a:p>
          <a:p>
            <a:r>
              <a:rPr sz="1300" b="0"/>
              <a:t>| no_spectrum     | 0.8917 | 传统MoE路由，无算子谱         |</a:t>
            </a:r>
          </a:p>
          <a:p>
            <a:r>
              <a:rPr sz="1300" b="0"/>
              <a:t>| no_moe（主模型）| 0.8923 | 纯算子，MLP分类头，最优       |</a:t>
            </a:r>
          </a:p>
          <a:p>
            <a:r>
              <a:rPr sz="1300" b="0"/>
              <a:t>| no_moe_noortho  | 0.8915 | 去正交正则，-0.0008 AUC       |</a:t>
            </a:r>
          </a:p>
        </p:txBody>
      </p:sp>
    </p:spTree>
    <p:extLst>
      <p:ext uri="{BB962C8B-B14F-4D97-AF65-F5344CB8AC3E}">
        <p14:creationId xmlns:p14="http://schemas.microsoft.com/office/powerpoint/2010/main" val="284561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3544-3710-9CD0-02BA-EBF898C3C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72997939-615A-550C-2E16-85358649D1E9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A3CF73D3-3C41-E044-7874-B26995052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333309"/>
              </p:ext>
            </p:extLst>
          </p:nvPr>
        </p:nvGraphicFramePr>
        <p:xfrm>
          <a:off x="2228235" y="2473703"/>
          <a:ext cx="54186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1524399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34928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246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RandomForest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0.9638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263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SAINT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0.9779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758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BiasAware_vanilla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0.9541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25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BiasAware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0.9792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336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BiasAware+ModalDrop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0.9552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962693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80000" y="108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97D"/>
                </a:solidFill>
              </a:rPr>
              <a:t>消融实验结论 &amp; 算子范式有效性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" y="720000"/>
            <a:ext cx="558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97D"/>
                </a:solidFill>
              </a:rPr>
              <a:t>四个核心结论</a:t>
            </a:r>
          </a:p>
          <a:p>
            <a:r>
              <a:rPr sz="1400" b="0"/>
              <a:t/>
            </a:r>
          </a:p>
          <a:p>
            <a:r>
              <a:rPr sz="1400" b="0"/>
              <a:t>1. MoE融合无效</a:t>
            </a:r>
          </a:p>
          <a:p>
            <a:r>
              <a:rPr sz="1400" b="0"/>
              <a:t>   delta_h已编码交互信息，MoE的LB Loss</a:t>
            </a:r>
          </a:p>
          <a:p>
            <a:r>
              <a:rPr sz="1400" b="0"/>
              <a:t>   引入梯度冲突，反降 0.8923 → 0.8868</a:t>
            </a:r>
          </a:p>
          <a:p>
            <a:r>
              <a:rPr sz="1400" b="0"/>
              <a:t/>
            </a:r>
          </a:p>
          <a:p>
            <a:r>
              <a:rPr sz="1400" b="0"/>
              <a:t>2. 纯算子（no_moe）最优</a:t>
            </a:r>
          </a:p>
          <a:p>
            <a:r>
              <a:rPr sz="1400" b="0"/>
              <a:t>   AUC=0.8923，918K参数（最少）</a:t>
            </a:r>
          </a:p>
          <a:p>
            <a:r>
              <a:rPr sz="1400" b="0"/>
              <a:t>   验证了算子范式的有效性</a:t>
            </a:r>
          </a:p>
          <a:p>
            <a:r>
              <a:rPr sz="1400" b="0"/>
              <a:t/>
            </a:r>
          </a:p>
          <a:p>
            <a:r>
              <a:rPr sz="1400" b="0"/>
              <a:t>3. 正交正则有效</a:t>
            </a:r>
          </a:p>
          <a:p>
            <a:r>
              <a:rPr sz="1400" b="0"/>
              <a:t>   lam_ortho 0.1 vs 0.0：+0.0008 AUC</a:t>
            </a:r>
          </a:p>
          <a:p>
            <a:r>
              <a:rPr sz="1400" b="0"/>
              <a:t>   主要价值：保证药效团模式的独立可解释性</a:t>
            </a:r>
          </a:p>
          <a:p>
            <a:r>
              <a:rPr sz="1400" b="0"/>
              <a:t/>
            </a:r>
          </a:p>
          <a:p>
            <a:r>
              <a:rPr sz="1400" b="0"/>
              <a:t>4. 谱信号适合分类而非路由</a:t>
            </a:r>
          </a:p>
          <a:p>
            <a:r>
              <a:rPr sz="1400" b="0"/>
              <a:t>   spectrum作为特征 &gt; spectrum作为路由信号</a:t>
            </a:r>
          </a:p>
          <a:p>
            <a:r>
              <a:rPr sz="1400" b="0"/>
              <a:t/>
            </a:r>
          </a:p>
          <a:p>
            <a:r>
              <a:rPr sz="1400" b="0"/>
              <a:t>确定主模型：DrugOperatorNet (no_moe)</a:t>
            </a:r>
          </a:p>
          <a:p>
            <a:r>
              <a:rPr sz="1400" b="0"/>
              <a:t>= train_operator_moe.py --ablation no_moe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000" y="720000"/>
            <a:ext cx="558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97D"/>
                </a:solidFill>
              </a:rPr>
              <a:t>待做实验（NMI必要）</a:t>
            </a:r>
          </a:p>
          <a:p>
            <a:r>
              <a:rPr sz="1400" b="0"/>
              <a:t/>
            </a:r>
          </a:p>
          <a:p>
            <a:r>
              <a:rPr sz="1400" b="0"/>
              <a:t>统计显著性</a:t>
            </a:r>
          </a:p>
          <a:p>
            <a:r>
              <a:rPr sz="1400" b="0"/>
              <a:t>□ 5-fold CV on all 4 cell lines</a:t>
            </a:r>
          </a:p>
          <a:p>
            <a:r>
              <a:rPr sz="1400" b="0"/>
              <a:t>□ mean ± std AUC，t-test vs baseline</a:t>
            </a:r>
          </a:p>
          <a:p>
            <a:r>
              <a:rPr sz="1400" b="0"/>
              <a:t/>
            </a:r>
          </a:p>
          <a:p>
            <a:r>
              <a:rPr sz="1400" b="0"/>
              <a:t>SOTA对比</a:t>
            </a:r>
          </a:p>
          <a:p>
            <a:r>
              <a:rPr sz="1400" b="0"/>
              <a:t>□ DeepCE（Song et al. 2021）</a:t>
            </a:r>
          </a:p>
          <a:p>
            <a:r>
              <a:rPr sz="1400" b="0"/>
              <a:t>□ DECIPHIR 或同期方法</a:t>
            </a:r>
          </a:p>
          <a:p>
            <a:r>
              <a:rPr sz="1400" b="0"/>
              <a:t>□ 需实现或找开源代码运行</a:t>
            </a:r>
          </a:p>
          <a:p>
            <a:r>
              <a:rPr sz="1400" b="0"/>
              <a:t/>
            </a:r>
          </a:p>
          <a:p>
            <a:r>
              <a:rPr sz="1400" b="0"/>
              <a:t>可解释性分析（详见下页）</a:t>
            </a:r>
          </a:p>
          <a:p>
            <a:r>
              <a:rPr sz="1400" b="0"/>
              <a:t>□ 谱分析：正/负样本区分</a:t>
            </a:r>
          </a:p>
          <a:p>
            <a:r>
              <a:rPr sz="1400" b="0"/>
              <a:t>□ 药效团热图：原子注意力</a:t>
            </a:r>
          </a:p>
          <a:p>
            <a:r>
              <a:rPr sz="1400" b="0"/>
              <a:t>□ 基因注意力：GO富集</a:t>
            </a:r>
          </a:p>
          <a:p>
            <a:r>
              <a:rPr sz="1400" b="0"/>
              <a:t/>
            </a:r>
          </a:p>
          <a:p>
            <a:r>
              <a:rPr sz="1400" b="0"/>
              <a:t>当前进度：~60% for NMI</a:t>
            </a:r>
          </a:p>
        </p:txBody>
      </p:sp>
    </p:spTree>
    <p:extLst>
      <p:ext uri="{BB962C8B-B14F-4D97-AF65-F5344CB8AC3E}">
        <p14:creationId xmlns:p14="http://schemas.microsoft.com/office/powerpoint/2010/main" val="17686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720C9-D8C0-5FEE-F2C0-727B159A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B852E48E-57E7-6F32-1C8B-06129B6C1FB1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B4051D5-4672-BE2C-C63F-4B61558CC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69" y="1024238"/>
            <a:ext cx="8057143" cy="480952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0000" y="108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97D"/>
                </a:solidFill>
              </a:rPr>
              <a:t>可解释性分析工作计划（NMI核心要求）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" y="720000"/>
            <a:ext cx="36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97D"/>
                </a:solidFill>
              </a:rPr>
              <a:t>① 交互谱分析</a:t>
            </a:r>
          </a:p>
          <a:p>
            <a:r>
              <a:rPr sz="1300" b="0"/>
              <a:t>（analyze_spectrum.py）</a:t>
            </a:r>
          </a:p>
          <a:p>
            <a:r>
              <a:rPr sz="1300" b="0"/>
              <a:t/>
            </a:r>
          </a:p>
          <a:p>
            <a:r>
              <a:rPr sz="1300" b="0"/>
              <a:t>• 对4细胞系正/负样本各提取谱</a:t>
            </a:r>
          </a:p>
          <a:p>
            <a:r>
              <a:rPr sz="1300" b="0"/>
              <a:t>• 可视化：每个模式k的激活分布</a:t>
            </a:r>
          </a:p>
          <a:p>
            <a:r>
              <a:rPr sz="1300" b="0"/>
              <a:t>• 期望：正样本谱值显著更高</a:t>
            </a:r>
          </a:p>
          <a:p>
            <a:r>
              <a:rPr sz="1300" b="0"/>
              <a:t>• 输出：violinplot / heatmap</a:t>
            </a:r>
          </a:p>
          <a:p>
            <a:r>
              <a:rPr sz="1300" b="0"/>
              <a:t/>
            </a:r>
          </a:p>
          <a:p>
            <a:r>
              <a:rPr sz="1300" b="0"/>
              <a:t>• 化合物聚类：按谱向量t-SNE</a:t>
            </a:r>
          </a:p>
          <a:p>
            <a:r>
              <a:rPr sz="1300" b="0"/>
              <a:t>  相同靶标的化合物应聚在一起</a:t>
            </a:r>
          </a:p>
          <a:p>
            <a:r>
              <a:rPr sz="1300" b="0"/>
              <a:t/>
            </a:r>
          </a:p>
          <a:p>
            <a:r>
              <a:rPr sz="1300" b="0"/>
              <a:t>• 工具函数已有：save_spectrum=True</a:t>
            </a:r>
          </a:p>
          <a:p>
            <a:r>
              <a:rPr sz="1300" b="0"/>
              <a:t>  spectrum.npy保存于results/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40000" y="720000"/>
            <a:ext cx="36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97D"/>
                </a:solidFill>
              </a:rPr>
              <a:t>② 药效团热图</a:t>
            </a:r>
          </a:p>
          <a:p>
            <a:r>
              <a:rPr sz="1300" b="0"/>
              <a:t>（分子注意力可视化）</a:t>
            </a:r>
          </a:p>
          <a:p>
            <a:r>
              <a:rPr sz="1300" b="0"/>
              <a:t/>
            </a:r>
          </a:p>
          <a:p>
            <a:r>
              <a:rPr sz="1300" b="0"/>
              <a:t>• 保存PharmacophoreExtractor</a:t>
            </a:r>
          </a:p>
          <a:p>
            <a:r>
              <a:rPr sz="1300" b="0"/>
              <a:t>  的原子注意力权重</a:t>
            </a:r>
          </a:p>
          <a:p>
            <a:r>
              <a:rPr sz="1300" b="0"/>
              <a:t>• 在RDKit中绘制分子结构，</a:t>
            </a:r>
          </a:p>
          <a:p>
            <a:r>
              <a:rPr sz="1300" b="0"/>
              <a:t>  按注意力权重着色</a:t>
            </a:r>
          </a:p>
          <a:p>
            <a:r>
              <a:rPr sz="1300" b="0"/>
              <a:t>• 期望：已知药效团位置高亮</a:t>
            </a:r>
          </a:p>
          <a:p>
            <a:r>
              <a:rPr sz="1300" b="0"/>
              <a:t/>
            </a:r>
          </a:p>
          <a:p>
            <a:r>
              <a:rPr sz="1300" b="0"/>
              <a:t>• 每个模式k对应一类药效团</a:t>
            </a:r>
          </a:p>
          <a:p>
            <a:r>
              <a:rPr sz="1300" b="0"/>
              <a:t>  （如：模式1=芳香环，模式2=氢键供体）</a:t>
            </a:r>
          </a:p>
          <a:p>
            <a:r>
              <a:rPr sz="1300" b="0"/>
              <a:t/>
            </a:r>
          </a:p>
          <a:p>
            <a:r>
              <a:rPr sz="1300" b="0"/>
              <a:t>• 代码修改：train_drug_operator_v2.py</a:t>
            </a:r>
          </a:p>
          <a:p>
            <a:r>
              <a:rPr sz="1300" b="0"/>
              <a:t>  保存atom_attn_weights.npy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0000" y="720000"/>
            <a:ext cx="36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497D"/>
                </a:solidFill>
              </a:rPr>
              <a:t>③ 基因注意力分析</a:t>
            </a:r>
          </a:p>
          <a:p>
            <a:r>
              <a:rPr sz="1300" b="0"/>
              <a:t>（GeneMultiHeadReader）</a:t>
            </a:r>
          </a:p>
          <a:p>
            <a:r>
              <a:rPr sz="1300" b="0"/>
              <a:t/>
            </a:r>
          </a:p>
          <a:p>
            <a:r>
              <a:rPr sz="1300" b="0"/>
              <a:t>• 保存基因序列的注意力权重</a:t>
            </a:r>
          </a:p>
          <a:p>
            <a:r>
              <a:rPr sz="1300" b="0"/>
              <a:t>• 映射到基因组坐标系</a:t>
            </a:r>
          </a:p>
          <a:p>
            <a:r>
              <a:rPr sz="1300" b="0"/>
              <a:t>• 与已知调控元件对比：</a:t>
            </a:r>
          </a:p>
          <a:p>
            <a:r>
              <a:rPr sz="1300" b="0"/>
              <a:t>  - 转录因子结合位点（JASPAR）</a:t>
            </a:r>
          </a:p>
          <a:p>
            <a:r>
              <a:rPr sz="1300" b="0"/>
              <a:t>  - 增强子/启动子区域</a:t>
            </a:r>
          </a:p>
          <a:p>
            <a:r>
              <a:rPr sz="1300" b="0"/>
              <a:t/>
            </a:r>
          </a:p>
          <a:p>
            <a:r>
              <a:rPr sz="1300" b="0"/>
              <a:t>• GO富集分析：</a:t>
            </a:r>
          </a:p>
          <a:p>
            <a:r>
              <a:rPr sz="1300" b="0"/>
              <a:t>  Top-k高注意力基因 → GO BP</a:t>
            </a:r>
          </a:p>
          <a:p>
            <a:r>
              <a:rPr sz="1300" b="0"/>
              <a:t>• 期望：细胞系特异性通路富集</a:t>
            </a:r>
          </a:p>
          <a:p>
            <a:r>
              <a:rPr sz="1300" b="0"/>
              <a:t>  MCF7：ER信号/MAPK</a:t>
            </a:r>
          </a:p>
          <a:p>
            <a:r>
              <a:rPr sz="1300" b="0"/>
              <a:t>  A375：BRAF/MEK/ERK</a:t>
            </a:r>
          </a:p>
          <a:p>
            <a:r>
              <a:rPr sz="1300" b="0"/>
              <a:t/>
            </a:r>
          </a:p>
          <a:p>
            <a:r>
              <a:rPr sz="1300" b="0"/>
              <a:t>• 工具：save_gene_attn=True</a:t>
            </a:r>
          </a:p>
        </p:txBody>
      </p:sp>
    </p:spTree>
    <p:extLst>
      <p:ext uri="{BB962C8B-B14F-4D97-AF65-F5344CB8AC3E}">
        <p14:creationId xmlns:p14="http://schemas.microsoft.com/office/powerpoint/2010/main" val="69722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2481C-F125-18BF-0B80-77F6C46A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直接连接符 14">
            <a:extLst>
              <a:ext uri="{FF2B5EF4-FFF2-40B4-BE49-F238E27FC236}">
                <a16:creationId xmlns:a16="http://schemas.microsoft.com/office/drawing/2014/main" id="{4715BC7F-54A4-FA62-2613-00B72A6C4A03}"/>
              </a:ext>
            </a:extLst>
          </p:cNvPr>
          <p:cNvCxnSpPr/>
          <p:nvPr/>
        </p:nvCxnSpPr>
        <p:spPr>
          <a:xfrm>
            <a:off x="226516" y="874288"/>
            <a:ext cx="11427819" cy="0"/>
          </a:xfrm>
          <a:prstGeom prst="line">
            <a:avLst/>
          </a:prstGeom>
          <a:ln w="76200" cap="rnd" cmpd="sng">
            <a:solidFill>
              <a:srgbClr val="8F000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180000" y="108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97D"/>
                </a:solidFill>
              </a:rPr>
              <a:t>NMI论文写作计划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0000" y="720000"/>
            <a:ext cx="558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97D"/>
                </a:solidFill>
              </a:rPr>
              <a:t>论文结构（目标期刊：NMI）</a:t>
            </a:r>
          </a:p>
          <a:p>
            <a:r>
              <a:rPr sz="1300" b="0"/>
              <a:t/>
            </a:r>
          </a:p>
          <a:p>
            <a:r>
              <a:rPr sz="1300" b="0"/>
              <a:t>Abstract（250字）</a:t>
            </a:r>
          </a:p>
          <a:p>
            <a:r>
              <a:rPr sz="1300" b="0"/>
              <a:t>• 问题 → 现有不足 → 本文方案</a:t>
            </a:r>
          </a:p>
          <a:p>
            <a:r>
              <a:rPr sz="1300" b="0"/>
              <a:t>• DrugOperatorNet + 4细胞系 + 可解释性</a:t>
            </a:r>
          </a:p>
          <a:p>
            <a:r>
              <a:rPr sz="1300" b="0"/>
              <a:t/>
            </a:r>
          </a:p>
          <a:p>
            <a:r>
              <a:rPr sz="1300" b="0"/>
              <a:t>Introduction（~1500字）</a:t>
            </a:r>
          </a:p>
          <a:p>
            <a:r>
              <a:rPr sz="1300" b="0"/>
              <a:t>• CGI预测在毒理学/药物发现中的意义</a:t>
            </a:r>
          </a:p>
          <a:p>
            <a:r>
              <a:rPr sz="1300" b="0"/>
              <a:t>• 化学品-基因关系的复杂性</a:t>
            </a:r>
          </a:p>
          <a:p>
            <a:r>
              <a:rPr sz="1300" b="0"/>
              <a:t>• 现有方法：ML基线 / 黑盒DL / 预训练模型</a:t>
            </a:r>
          </a:p>
          <a:p>
            <a:r>
              <a:rPr sz="1300" b="0"/>
              <a:t>• 本文贡献：算子范式 / 端到端 / 可解释</a:t>
            </a:r>
          </a:p>
          <a:p>
            <a:r>
              <a:rPr sz="1300" b="0"/>
              <a:t/>
            </a:r>
          </a:p>
          <a:p>
            <a:r>
              <a:rPr sz="1300" b="0"/>
              <a:t>Methods（~2000字）</a:t>
            </a:r>
          </a:p>
          <a:p>
            <a:r>
              <a:rPr sz="1300" b="0"/>
              <a:t>• 数据集描述（L1000/化学冷分割）</a:t>
            </a:r>
          </a:p>
          <a:p>
            <a:r>
              <a:rPr sz="1300" b="0"/>
              <a:t>• DrugOperatorNet架构</a:t>
            </a:r>
          </a:p>
          <a:p>
            <a:r>
              <a:rPr sz="1300" b="0"/>
              <a:t>  - GIN药物编码</a:t>
            </a:r>
          </a:p>
          <a:p>
            <a:r>
              <a:rPr sz="1300" b="0"/>
              <a:t>  - k-mer基因序列编码</a:t>
            </a:r>
          </a:p>
          <a:p>
            <a:r>
              <a:rPr sz="1300" b="0"/>
              <a:t>  - PerturbationOperator（T=I+UΣVᵀ）</a:t>
            </a:r>
          </a:p>
          <a:p>
            <a:r>
              <a:rPr sz="1300" b="0"/>
              <a:t>  - 正交正则损失</a:t>
            </a:r>
          </a:p>
          <a:p>
            <a:r>
              <a:rPr sz="1300" b="0"/>
              <a:t>• 训练细节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0000" y="720000"/>
            <a:ext cx="558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97D"/>
                </a:solidFill>
              </a:rPr>
              <a:t>论文结构（续）</a:t>
            </a:r>
          </a:p>
          <a:p>
            <a:r>
              <a:rPr sz="1300" b="0"/>
              <a:t/>
            </a:r>
          </a:p>
          <a:p>
            <a:r>
              <a:rPr sz="1300" b="0"/>
              <a:t>Results（~2500字）</a:t>
            </a:r>
          </a:p>
          <a:p>
            <a:r>
              <a:rPr sz="1300" b="0"/>
              <a:t>• R1: 主性能对比（4细胞系 vs SOTA）</a:t>
            </a:r>
          </a:p>
          <a:p>
            <a:r>
              <a:rPr sz="1300" b="0"/>
              <a:t>• R2: 消融实验（算子各组件贡献）</a:t>
            </a:r>
          </a:p>
          <a:p>
            <a:r>
              <a:rPr sz="1300" b="0"/>
              <a:t>• R3: GIN vs Morgan FP（端到端必要性）</a:t>
            </a:r>
          </a:p>
          <a:p>
            <a:r>
              <a:rPr sz="1300" b="0"/>
              <a:t>• R4: 可解释性分析</a:t>
            </a:r>
          </a:p>
          <a:p>
            <a:r>
              <a:rPr sz="1300" b="0"/>
              <a:t>  - 谱分析（正/负样本区分）</a:t>
            </a:r>
          </a:p>
          <a:p>
            <a:r>
              <a:rPr sz="1300" b="0"/>
              <a:t>  - 药效团热图（分子级别）</a:t>
            </a:r>
          </a:p>
          <a:p>
            <a:r>
              <a:rPr sz="1300" b="0"/>
              <a:t>  - 基因注意力GO富集</a:t>
            </a:r>
          </a:p>
          <a:p>
            <a:r>
              <a:rPr sz="1300" b="0"/>
              <a:t/>
            </a:r>
          </a:p>
          <a:p>
            <a:r>
              <a:rPr sz="1300" b="0"/>
              <a:t>Discussion（~1000字）</a:t>
            </a:r>
          </a:p>
          <a:p>
            <a:r>
              <a:rPr sz="1300" b="0"/>
              <a:t>• 算子范式的生物学意义</a:t>
            </a:r>
          </a:p>
          <a:p>
            <a:r>
              <a:rPr sz="1300" b="0"/>
              <a:t>• 模式独立性 → 多机制并行</a:t>
            </a:r>
          </a:p>
          <a:p>
            <a:r>
              <a:rPr sz="1300" b="0"/>
              <a:t>• 化学结构归纳偏置的优势</a:t>
            </a:r>
          </a:p>
          <a:p>
            <a:r>
              <a:rPr sz="1300" b="0"/>
              <a:t>• 局限性：序列→结构层次/动态调控</a:t>
            </a:r>
          </a:p>
          <a:p>
            <a:r>
              <a:rPr sz="1300" b="0"/>
              <a:t/>
            </a:r>
          </a:p>
          <a:p>
            <a:r>
              <a:rPr sz="1300" b="0"/>
              <a:t>当前写作建议</a:t>
            </a:r>
          </a:p>
          <a:p>
            <a:r>
              <a:rPr sz="1300" b="0"/>
              <a:t>□ 先写Methods（已稳定）</a:t>
            </a:r>
          </a:p>
          <a:p>
            <a:r>
              <a:rPr sz="1300" b="0"/>
              <a:t>□ 等全部5-fold结果后写Results</a:t>
            </a:r>
          </a:p>
          <a:p>
            <a:r>
              <a:rPr sz="1300" b="0"/>
              <a:t>□ Introduction最后写</a:t>
            </a:r>
          </a:p>
          <a:p>
            <a:r>
              <a:rPr sz="1300" b="0"/>
              <a:t>□ 预计投稿时间：2026年6-7月</a:t>
            </a:r>
          </a:p>
        </p:txBody>
      </p:sp>
    </p:spTree>
    <p:extLst>
      <p:ext uri="{BB962C8B-B14F-4D97-AF65-F5344CB8AC3E}">
        <p14:creationId xmlns:p14="http://schemas.microsoft.com/office/powerpoint/2010/main" val="3715138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pull/>
      </p:transition>
    </mc:Choice>
    <mc:Fallback xmlns="">
      <p:transition>
        <p:pull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625600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/>
        </p:nvSpPr>
        <p:spPr>
          <a:xfrm flipV="1">
            <a:off x="8977053" y="482155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benzene_268754"/>
          <p:cNvSpPr/>
          <p:nvPr/>
        </p:nvSpPr>
        <p:spPr>
          <a:xfrm>
            <a:off x="8890020" y="5232400"/>
            <a:ext cx="533359" cy="609685"/>
          </a:xfrm>
          <a:custGeom>
            <a:avLst/>
            <a:gdLst>
              <a:gd name="T0" fmla="*/ 5851 w 5983"/>
              <a:gd name="T1" fmla="*/ 1623 h 6850"/>
              <a:gd name="T2" fmla="*/ 3123 w 5983"/>
              <a:gd name="T3" fmla="*/ 47 h 6850"/>
              <a:gd name="T4" fmla="*/ 2860 w 5983"/>
              <a:gd name="T5" fmla="*/ 47 h 6850"/>
              <a:gd name="T6" fmla="*/ 131 w 5983"/>
              <a:gd name="T7" fmla="*/ 1623 h 6850"/>
              <a:gd name="T8" fmla="*/ 0 w 5983"/>
              <a:gd name="T9" fmla="*/ 1850 h 6850"/>
              <a:gd name="T10" fmla="*/ 0 w 5983"/>
              <a:gd name="T11" fmla="*/ 5001 h 6850"/>
              <a:gd name="T12" fmla="*/ 131 w 5983"/>
              <a:gd name="T13" fmla="*/ 5228 h 6850"/>
              <a:gd name="T14" fmla="*/ 2860 w 5983"/>
              <a:gd name="T15" fmla="*/ 6804 h 6850"/>
              <a:gd name="T16" fmla="*/ 3123 w 5983"/>
              <a:gd name="T17" fmla="*/ 6804 h 6850"/>
              <a:gd name="T18" fmla="*/ 5851 w 5983"/>
              <a:gd name="T19" fmla="*/ 5228 h 6850"/>
              <a:gd name="T20" fmla="*/ 5983 w 5983"/>
              <a:gd name="T21" fmla="*/ 5001 h 6850"/>
              <a:gd name="T22" fmla="*/ 5983 w 5983"/>
              <a:gd name="T23" fmla="*/ 1850 h 6850"/>
              <a:gd name="T24" fmla="*/ 5851 w 5983"/>
              <a:gd name="T25" fmla="*/ 1623 h 6850"/>
              <a:gd name="T26" fmla="*/ 1357 w 5983"/>
              <a:gd name="T27" fmla="*/ 4495 h 6850"/>
              <a:gd name="T28" fmla="*/ 1138 w 5983"/>
              <a:gd name="T29" fmla="*/ 4714 h 6850"/>
              <a:gd name="T30" fmla="*/ 919 w 5983"/>
              <a:gd name="T31" fmla="*/ 4495 h 6850"/>
              <a:gd name="T32" fmla="*/ 919 w 5983"/>
              <a:gd name="T33" fmla="*/ 2355 h 6850"/>
              <a:gd name="T34" fmla="*/ 1138 w 5983"/>
              <a:gd name="T35" fmla="*/ 2136 h 6850"/>
              <a:gd name="T36" fmla="*/ 1357 w 5983"/>
              <a:gd name="T37" fmla="*/ 2355 h 6850"/>
              <a:gd name="T38" fmla="*/ 1357 w 5983"/>
              <a:gd name="T39" fmla="*/ 4495 h 6850"/>
              <a:gd name="T40" fmla="*/ 4954 w 5983"/>
              <a:gd name="T41" fmla="*/ 4685 h 6850"/>
              <a:gd name="T42" fmla="*/ 3101 w 5983"/>
              <a:gd name="T43" fmla="*/ 5755 h 6850"/>
              <a:gd name="T44" fmla="*/ 2802 w 5983"/>
              <a:gd name="T45" fmla="*/ 5675 h 6850"/>
              <a:gd name="T46" fmla="*/ 2882 w 5983"/>
              <a:gd name="T47" fmla="*/ 5376 h 6850"/>
              <a:gd name="T48" fmla="*/ 4735 w 5983"/>
              <a:gd name="T49" fmla="*/ 4306 h 6850"/>
              <a:gd name="T50" fmla="*/ 5034 w 5983"/>
              <a:gd name="T51" fmla="*/ 4386 h 6850"/>
              <a:gd name="T52" fmla="*/ 4954 w 5983"/>
              <a:gd name="T53" fmla="*/ 4685 h 6850"/>
              <a:gd name="T54" fmla="*/ 5034 w 5983"/>
              <a:gd name="T55" fmla="*/ 2465 h 6850"/>
              <a:gd name="T56" fmla="*/ 4735 w 5983"/>
              <a:gd name="T57" fmla="*/ 2545 h 6850"/>
              <a:gd name="T58" fmla="*/ 2882 w 5983"/>
              <a:gd name="T59" fmla="*/ 1475 h 6850"/>
              <a:gd name="T60" fmla="*/ 2802 w 5983"/>
              <a:gd name="T61" fmla="*/ 1176 h 6850"/>
              <a:gd name="T62" fmla="*/ 3101 w 5983"/>
              <a:gd name="T63" fmla="*/ 1096 h 6850"/>
              <a:gd name="T64" fmla="*/ 4954 w 5983"/>
              <a:gd name="T65" fmla="*/ 2166 h 6850"/>
              <a:gd name="T66" fmla="*/ 5034 w 5983"/>
              <a:gd name="T67" fmla="*/ 2465 h 6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983" h="6850">
                <a:moveTo>
                  <a:pt x="5851" y="1623"/>
                </a:moveTo>
                <a:lnTo>
                  <a:pt x="3123" y="47"/>
                </a:lnTo>
                <a:cubicBezTo>
                  <a:pt x="3041" y="0"/>
                  <a:pt x="2941" y="0"/>
                  <a:pt x="2860" y="47"/>
                </a:cubicBezTo>
                <a:lnTo>
                  <a:pt x="131" y="1623"/>
                </a:lnTo>
                <a:cubicBezTo>
                  <a:pt x="50" y="1669"/>
                  <a:pt x="0" y="1756"/>
                  <a:pt x="0" y="1850"/>
                </a:cubicBezTo>
                <a:lnTo>
                  <a:pt x="0" y="5001"/>
                </a:lnTo>
                <a:cubicBezTo>
                  <a:pt x="0" y="5095"/>
                  <a:pt x="50" y="5181"/>
                  <a:pt x="131" y="5228"/>
                </a:cubicBezTo>
                <a:lnTo>
                  <a:pt x="2860" y="6804"/>
                </a:lnTo>
                <a:cubicBezTo>
                  <a:pt x="2941" y="6850"/>
                  <a:pt x="3041" y="6850"/>
                  <a:pt x="3123" y="6804"/>
                </a:cubicBezTo>
                <a:lnTo>
                  <a:pt x="5851" y="5228"/>
                </a:lnTo>
                <a:cubicBezTo>
                  <a:pt x="5933" y="5181"/>
                  <a:pt x="5983" y="5095"/>
                  <a:pt x="5983" y="5001"/>
                </a:cubicBezTo>
                <a:lnTo>
                  <a:pt x="5983" y="1850"/>
                </a:lnTo>
                <a:cubicBezTo>
                  <a:pt x="5983" y="1756"/>
                  <a:pt x="5933" y="1669"/>
                  <a:pt x="5851" y="1623"/>
                </a:cubicBezTo>
                <a:close/>
                <a:moveTo>
                  <a:pt x="1357" y="4495"/>
                </a:moveTo>
                <a:cubicBezTo>
                  <a:pt x="1357" y="4616"/>
                  <a:pt x="1259" y="4714"/>
                  <a:pt x="1138" y="4714"/>
                </a:cubicBezTo>
                <a:cubicBezTo>
                  <a:pt x="1017" y="4714"/>
                  <a:pt x="919" y="4616"/>
                  <a:pt x="919" y="4495"/>
                </a:cubicBezTo>
                <a:lnTo>
                  <a:pt x="919" y="2355"/>
                </a:lnTo>
                <a:cubicBezTo>
                  <a:pt x="919" y="2234"/>
                  <a:pt x="1017" y="2136"/>
                  <a:pt x="1138" y="2136"/>
                </a:cubicBezTo>
                <a:cubicBezTo>
                  <a:pt x="1259" y="2136"/>
                  <a:pt x="1357" y="2234"/>
                  <a:pt x="1357" y="2355"/>
                </a:cubicBezTo>
                <a:lnTo>
                  <a:pt x="1357" y="4495"/>
                </a:lnTo>
                <a:close/>
                <a:moveTo>
                  <a:pt x="4954" y="4685"/>
                </a:moveTo>
                <a:lnTo>
                  <a:pt x="3101" y="5755"/>
                </a:lnTo>
                <a:cubicBezTo>
                  <a:pt x="2996" y="5815"/>
                  <a:pt x="2862" y="5780"/>
                  <a:pt x="2802" y="5675"/>
                </a:cubicBezTo>
                <a:cubicBezTo>
                  <a:pt x="2741" y="5570"/>
                  <a:pt x="2777" y="5436"/>
                  <a:pt x="2882" y="5376"/>
                </a:cubicBezTo>
                <a:lnTo>
                  <a:pt x="4735" y="4306"/>
                </a:lnTo>
                <a:cubicBezTo>
                  <a:pt x="4840" y="4246"/>
                  <a:pt x="4974" y="4281"/>
                  <a:pt x="5034" y="4386"/>
                </a:cubicBezTo>
                <a:cubicBezTo>
                  <a:pt x="5095" y="4491"/>
                  <a:pt x="5059" y="4624"/>
                  <a:pt x="4954" y="4685"/>
                </a:cubicBezTo>
                <a:close/>
                <a:moveTo>
                  <a:pt x="5034" y="2465"/>
                </a:moveTo>
                <a:cubicBezTo>
                  <a:pt x="4974" y="2569"/>
                  <a:pt x="4840" y="2605"/>
                  <a:pt x="4735" y="2545"/>
                </a:cubicBezTo>
                <a:lnTo>
                  <a:pt x="2882" y="1475"/>
                </a:lnTo>
                <a:cubicBezTo>
                  <a:pt x="2777" y="1414"/>
                  <a:pt x="2741" y="1280"/>
                  <a:pt x="2802" y="1176"/>
                </a:cubicBezTo>
                <a:cubicBezTo>
                  <a:pt x="2862" y="1071"/>
                  <a:pt x="2996" y="1035"/>
                  <a:pt x="3101" y="1096"/>
                </a:cubicBezTo>
                <a:lnTo>
                  <a:pt x="4954" y="2166"/>
                </a:lnTo>
                <a:cubicBezTo>
                  <a:pt x="5059" y="2226"/>
                  <a:pt x="5095" y="2360"/>
                  <a:pt x="5034" y="24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80000" y="108000"/>
            <a:ext cx="11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497D"/>
                </a:solidFill>
              </a:rPr>
              <a:t>下一步计划（优先级排序）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0000" y="720000"/>
            <a:ext cx="1152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97D"/>
                </a:solidFill>
              </a:rPr>
              <a:t>P0（本周完成）</a:t>
            </a:r>
          </a:p>
          <a:p>
            <a:r>
              <a:rPr sz="1500" b="0"/>
              <a:t>□ 等待 A375/A549/VCAP DrugOperatorNet 结果（cuda:0/2/3）</a:t>
            </a:r>
          </a:p>
          <a:p>
            <a:r>
              <a:rPr sz="1500" b="0"/>
              <a:t>□ 运行 analyze_spectrum.py：4细胞系谱可视化</a:t>
            </a:r>
          </a:p>
          <a:p>
            <a:r>
              <a:rPr sz="1500" b="0"/>
              <a:t>□ 修改代码保存原子注意力权重，生成MCF7样例热图</a:t>
            </a:r>
          </a:p>
          <a:p>
            <a:r>
              <a:rPr sz="1500" b="0"/>
              <a:t/>
            </a:r>
          </a:p>
          <a:p>
            <a:r>
              <a:rPr sz="1500" b="0"/>
              <a:t>P1（下周）</a:t>
            </a:r>
          </a:p>
          <a:p>
            <a:r>
              <a:rPr sz="1500" b="0"/>
              <a:t>□ 5-fold CV：DrugOperatorNet 在4细胞系全部5个fold</a:t>
            </a:r>
          </a:p>
          <a:p>
            <a:r>
              <a:rPr sz="1500" b="0"/>
              <a:t>□ 调研并实现SOTA对比方法（DeepCE / DECIPHIR）</a:t>
            </a:r>
          </a:p>
          <a:p>
            <a:r>
              <a:rPr sz="1500" b="0"/>
              <a:t>□ 基因注意力分析 → GO富集（MCF7/A375各一个细胞系）</a:t>
            </a:r>
          </a:p>
          <a:p>
            <a:r>
              <a:rPr sz="1500" b="0"/>
              <a:t/>
            </a:r>
          </a:p>
          <a:p>
            <a:r>
              <a:rPr sz="1500" b="0"/>
              <a:t>P2（两周内）</a:t>
            </a:r>
          </a:p>
          <a:p>
            <a:r>
              <a:rPr sz="1500" b="0"/>
              <a:t>□ 完成论文Methods部分初稿</a:t>
            </a:r>
          </a:p>
          <a:p>
            <a:r>
              <a:rPr sz="1500" b="0"/>
              <a:t>□ 统计显著性检验（paired t-test，5 seeds × 4 cell lines）</a:t>
            </a:r>
          </a:p>
          <a:p>
            <a:r>
              <a:rPr sz="1500" b="0"/>
              <a:t>□ 准备投稿图（高清PDF，Nature格式）</a:t>
            </a:r>
          </a:p>
          <a:p>
            <a:r>
              <a:rPr sz="1500" b="0"/>
              <a:t/>
            </a:r>
          </a:p>
          <a:p>
            <a:r>
              <a:rPr sz="1500" b="0"/>
              <a:t>P3（一个月）</a:t>
            </a:r>
          </a:p>
          <a:p>
            <a:r>
              <a:rPr sz="1500" b="0"/>
              <a:t>□ 完成论文全文初稿</a:t>
            </a:r>
          </a:p>
          <a:p>
            <a:r>
              <a:rPr sz="1500" b="0"/>
              <a:t>□ 预印本上传 bioRxiv</a:t>
            </a:r>
          </a:p>
          <a:p>
            <a:r>
              <a:rPr sz="1500" b="0"/>
              <a:t>□ 提交 NMI</a:t>
            </a:r>
          </a:p>
          <a:p>
            <a:r>
              <a:rPr sz="1500" b="0"/>
              <a:t/>
            </a:r>
          </a:p>
          <a:p>
            <a:r>
              <a:rPr sz="1500" b="0"/>
              <a:t>当前进度评估：实验部分约60%，可解释性约20%，论文约5%</a:t>
            </a:r>
          </a:p>
        </p:txBody>
      </p:sp>
    </p:spTree>
    <p:custDataLst>
      <p:tags r:id="rId1"/>
    </p:custData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8383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8383;"/>
</p:tagLst>
</file>

<file path=ppt/theme/theme1.xml><?xml version="1.0" encoding="utf-8"?>
<a:theme xmlns:a="http://schemas.openxmlformats.org/drawingml/2006/main" name="Office 主题">
  <a:themeElements>
    <a:clrScheme name="北京大学">
      <a:dk1>
        <a:srgbClr val="333333"/>
      </a:dk1>
      <a:lt1>
        <a:srgbClr val="FFFFFF"/>
      </a:lt1>
      <a:dk2>
        <a:srgbClr val="538135"/>
      </a:dk2>
      <a:lt2>
        <a:srgbClr val="538135"/>
      </a:lt2>
      <a:accent1>
        <a:srgbClr val="8F000B"/>
      </a:accent1>
      <a:accent2>
        <a:srgbClr val="700005"/>
      </a:accent2>
      <a:accent3>
        <a:srgbClr val="AC0000"/>
      </a:accent3>
      <a:accent4>
        <a:srgbClr val="538135"/>
      </a:accent4>
      <a:accent5>
        <a:srgbClr val="538135"/>
      </a:accent5>
      <a:accent6>
        <a:srgbClr val="538135"/>
      </a:accent6>
      <a:hlink>
        <a:srgbClr val="538135"/>
      </a:hlink>
      <a:folHlink>
        <a:srgbClr val="538135"/>
      </a:folHlink>
    </a:clrScheme>
    <a:fontScheme name="mkwqqiom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13557</TotalTime>
  <Words>442</Words>
  <Application>Microsoft Office PowerPoint</Application>
  <PresentationFormat>宽屏</PresentationFormat>
  <Paragraphs>65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华文细黑</vt:lpstr>
      <vt:lpstr>微软雅黑</vt:lpstr>
      <vt:lpstr>Arial</vt:lpstr>
      <vt:lpstr>Calibri</vt:lpstr>
      <vt:lpstr>Times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a41867</dc:creator>
  <cp:lastModifiedBy>jiangyun</cp:lastModifiedBy>
  <cp:revision>312</cp:revision>
  <dcterms:created xsi:type="dcterms:W3CDTF">2025-03-04T00:07:00Z</dcterms:created>
  <dcterms:modified xsi:type="dcterms:W3CDTF">2026-04-02T13:23:31Z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2F9F217820E94E98BFBFAE4662B42F24_13</vt:lpwstr>
  </property>
  <property fmtid="{D5CDD505-2E9C-101B-9397-08002B2CF9AE}" pid="3" name="KSOProductBuildVer">
    <vt:lpwstr>2052-12.1.0.24034</vt:lpwstr>
  </property>
</Properties>
</file>